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Geist Bold"/>
      <p:regular r:id="rId201314"/>
    </p:embeddedFont>
    <p:embeddedFont>
      <p:font typeface="Geist"/>
      <p:regular r:id="rId201315"/>
    </p:embeddedFont>
    <p:embeddedFont>
      <p:font typeface="Noto Serif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2126655"/>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006747"/>
                </a:solidFill>
                <a:latin typeface="Noto Serif Bold" pitchFamily="34" charset="0"/>
                <a:ea typeface="Noto Serif Bold" pitchFamily="34" charset="-122"/>
                <a:cs typeface="Noto Serif Bold" pitchFamily="34" charset="-120"/>
              </a:rPr>
              <a:t>Customer Shopping Behavior Analysis</a:t>
            </a:r>
            <a:endParaRPr lang="en-US" sz="3250" dirty="0"/>
          </a:p>
        </p:txBody>
      </p:sp>
      <p:sp>
        <p:nvSpPr>
          <p:cNvPr id="4" name="Text 1"/>
          <p:cNvSpPr/>
          <p:nvPr/>
        </p:nvSpPr>
        <p:spPr>
          <a:xfrm>
            <a:off x="661475" y="3408164"/>
            <a:ext cx="6296860"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This project analyzes 3,900 purchases across multiple product categories to surface spending patterns, customer segments, product preferences, and subscription behavior. The objective: translate transactional insights into actionable business recommendations that improve revenue, retention, and marketing precision.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2385020"/>
            <a:ext cx="6296860" cy="516731"/>
          </a:xfrm>
          <a:prstGeom prst="rect">
            <a:avLst/>
          </a:prstGeom>
          <a:noFill/>
          <a:ln/>
        </p:spPr>
        <p:txBody>
          <a:bodyPr wrap="none" lIns="0" tIns="0" rIns="0" bIns="0" rtlCol="0" anchor="t"/>
          <a:lstStyle/>
          <a:p>
            <a:pPr algn="l" indent="0" marL="0">
              <a:lnSpc>
                <a:spcPct val="104000"/>
              </a:lnSpc>
              <a:buNone/>
            </a:pPr>
            <a:r>
              <a:rPr lang="en-US" sz="3250" b="1" dirty="0">
                <a:solidFill>
                  <a:srgbClr val="006747"/>
                </a:solidFill>
                <a:latin typeface="Noto Serif Bold" pitchFamily="34" charset="0"/>
                <a:ea typeface="Noto Serif Bold" pitchFamily="34" charset="-122"/>
                <a:cs typeface="Noto Serif Bold" pitchFamily="34" charset="-120"/>
              </a:rPr>
              <a:t>Dataset &amp; Key Features</a:t>
            </a:r>
            <a:endParaRPr lang="en-US" sz="3250" dirty="0"/>
          </a:p>
        </p:txBody>
      </p:sp>
      <p:sp>
        <p:nvSpPr>
          <p:cNvPr id="4" name="Text 1"/>
          <p:cNvSpPr/>
          <p:nvPr/>
        </p:nvSpPr>
        <p:spPr>
          <a:xfrm>
            <a:off x="5233360" y="3149798"/>
            <a:ext cx="6296860"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Dataset summary: 3,900 rows and 18 columns. Key features include customer demographics (age, gender, location, subscription status), purchase details (item, category, amount, season, size, color), and shopping behavior (discount applied, promo code used, prior purchases, purchase frequency, review rating, shipping type). Missing data: 37 values in Review Rating.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6747"/>
                </a:solidFill>
                <a:latin typeface="Noto Serif Bold" pitchFamily="34" charset="0"/>
                <a:ea typeface="Noto Serif Bold" pitchFamily="34" charset="-122"/>
                <a:cs typeface="Noto Serif Bold" pitchFamily="34" charset="-120"/>
              </a:rPr>
              <a:t>Data Preparation &amp; Cleaning (Python)</a:t>
            </a:r>
            <a:endParaRPr lang="en-US" sz="1600" dirty="0"/>
          </a:p>
        </p:txBody>
      </p:sp>
      <p:sp>
        <p:nvSpPr>
          <p:cNvPr id="3" name="Text 1"/>
          <p:cNvSpPr/>
          <p:nvPr/>
        </p:nvSpPr>
        <p:spPr>
          <a:xfrm>
            <a:off x="661475" y="795933"/>
            <a:ext cx="10868745"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We loaded data with pandas, inspected structure with df.info() and .describe(), checked nulls, and imputed 37 missing review ratings using median rating per product category. Columns were standardized to snake_case for readability and documentation. Redundant promo_code_used was dropped after consistency checks with discount_applied.</a:t>
            </a:r>
            <a:endParaRPr lang="en-US" sz="650" dirty="0"/>
          </a:p>
        </p:txBody>
      </p:sp>
      <p:pic>
        <p:nvPicPr>
          <p:cNvPr id="4" name="Image 0" descr="preencoded.png">    </p:cNvPr>
          <p:cNvPicPr>
            <a:picLocks noChangeAspect="1"/>
          </p:cNvPicPr>
          <p:nvPr/>
        </p:nvPicPr>
        <p:blipFill>
          <a:blip r:embed="rId1"/>
          <a:stretch>
            <a:fillRect/>
          </a:stretch>
        </p:blipFill>
        <p:spPr>
          <a:xfrm>
            <a:off x="661475" y="1087041"/>
            <a:ext cx="5333569" cy="5333702"/>
          </a:xfrm>
          <a:prstGeom prst="rect">
            <a:avLst/>
          </a:prstGeom>
        </p:spPr>
      </p:pic>
      <p:sp>
        <p:nvSpPr>
          <p:cNvPr id="5" name="Shape 2"/>
          <p:cNvSpPr/>
          <p:nvPr/>
        </p:nvSpPr>
        <p:spPr>
          <a:xfrm>
            <a:off x="6203001" y="1087041"/>
            <a:ext cx="2646098" cy="447576"/>
          </a:xfrm>
          <a:prstGeom prst="roundRect">
            <a:avLst>
              <a:gd name="adj" fmla="val 16629"/>
            </a:avLst>
          </a:prstGeom>
          <a:solidFill>
            <a:srgbClr val="D1EFE4"/>
          </a:solidFill>
          <a:ln w="6350">
            <a:solidFill>
              <a:srgbClr val="B7D5CA"/>
            </a:solidFill>
            <a:prstDash val="solid"/>
          </a:ln>
        </p:spPr>
      </p:sp>
      <p:sp>
        <p:nvSpPr>
          <p:cNvPr id="6" name="Text 3"/>
          <p:cNvSpPr/>
          <p:nvPr/>
        </p:nvSpPr>
        <p:spPr>
          <a:xfrm>
            <a:off x="6291998" y="1176040"/>
            <a:ext cx="2468104" cy="129183"/>
          </a:xfrm>
          <a:prstGeom prst="rect">
            <a:avLst/>
          </a:prstGeom>
          <a:noFill/>
          <a:ln/>
        </p:spPr>
        <p:txBody>
          <a:bodyPr wrap="none" lIns="0" tIns="0" rIns="0" bIns="0" rtlCol="0" anchor="t"/>
          <a:lstStyle/>
          <a:p>
            <a:pPr algn="l" indent="0" marL="0">
              <a:lnSpc>
                <a:spcPct val="104000"/>
              </a:lnSpc>
              <a:buNone/>
            </a:pPr>
            <a:r>
              <a:rPr lang="en-US" sz="800" b="1" dirty="0">
                <a:solidFill>
                  <a:srgbClr val="4B4A4A"/>
                </a:solidFill>
                <a:latin typeface="Noto Serif Bold" pitchFamily="34" charset="0"/>
                <a:ea typeface="Noto Serif Bold" pitchFamily="34" charset="-122"/>
                <a:cs typeface="Noto Serif Bold" pitchFamily="34" charset="-120"/>
              </a:rPr>
              <a:t>Imputation</a:t>
            </a:r>
            <a:endParaRPr lang="en-US" sz="800" dirty="0"/>
          </a:p>
        </p:txBody>
      </p:sp>
      <p:sp>
        <p:nvSpPr>
          <p:cNvPr id="7" name="Text 4"/>
          <p:cNvSpPr/>
          <p:nvPr/>
        </p:nvSpPr>
        <p:spPr>
          <a:xfrm>
            <a:off x="6291998" y="1346498"/>
            <a:ext cx="2468104" cy="99120"/>
          </a:xfrm>
          <a:prstGeom prst="rect">
            <a:avLst/>
          </a:prstGeom>
          <a:noFill/>
          <a:ln/>
        </p:spPr>
        <p:txBody>
          <a:bodyPr wrap="none" lIns="0" tIns="0" rIns="0" bIns="0" rtlCol="0" anchor="t"/>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Review ratings imputed by category median.</a:t>
            </a:r>
            <a:endParaRPr lang="en-US" sz="650" dirty="0"/>
          </a:p>
        </p:txBody>
      </p:sp>
      <p:sp>
        <p:nvSpPr>
          <p:cNvPr id="8" name="Shape 5"/>
          <p:cNvSpPr/>
          <p:nvPr/>
        </p:nvSpPr>
        <p:spPr>
          <a:xfrm>
            <a:off x="8890373" y="1087041"/>
            <a:ext cx="2646197" cy="447576"/>
          </a:xfrm>
          <a:prstGeom prst="roundRect">
            <a:avLst>
              <a:gd name="adj" fmla="val 16629"/>
            </a:avLst>
          </a:prstGeom>
          <a:solidFill>
            <a:srgbClr val="D1EFE4"/>
          </a:solidFill>
          <a:ln w="6350">
            <a:solidFill>
              <a:srgbClr val="B7D5CA"/>
            </a:solidFill>
            <a:prstDash val="solid"/>
          </a:ln>
        </p:spPr>
      </p:sp>
      <p:sp>
        <p:nvSpPr>
          <p:cNvPr id="9" name="Text 6"/>
          <p:cNvSpPr/>
          <p:nvPr/>
        </p:nvSpPr>
        <p:spPr>
          <a:xfrm>
            <a:off x="8979370" y="1176040"/>
            <a:ext cx="2468203" cy="129183"/>
          </a:xfrm>
          <a:prstGeom prst="rect">
            <a:avLst/>
          </a:prstGeom>
          <a:noFill/>
          <a:ln/>
        </p:spPr>
        <p:txBody>
          <a:bodyPr wrap="none" lIns="0" tIns="0" rIns="0" bIns="0" rtlCol="0" anchor="t"/>
          <a:lstStyle/>
          <a:p>
            <a:pPr algn="l" indent="0" marL="0">
              <a:lnSpc>
                <a:spcPct val="104000"/>
              </a:lnSpc>
              <a:buNone/>
            </a:pPr>
            <a:r>
              <a:rPr lang="en-US" sz="800" b="1" dirty="0">
                <a:solidFill>
                  <a:srgbClr val="4B4A4A"/>
                </a:solidFill>
                <a:latin typeface="Noto Serif Bold" pitchFamily="34" charset="0"/>
                <a:ea typeface="Noto Serif Bold" pitchFamily="34" charset="-122"/>
                <a:cs typeface="Noto Serif Bold" pitchFamily="34" charset="-120"/>
              </a:rPr>
              <a:t>Renaming</a:t>
            </a:r>
            <a:endParaRPr lang="en-US" sz="800" dirty="0"/>
          </a:p>
        </p:txBody>
      </p:sp>
      <p:sp>
        <p:nvSpPr>
          <p:cNvPr id="10" name="Text 7"/>
          <p:cNvSpPr/>
          <p:nvPr/>
        </p:nvSpPr>
        <p:spPr>
          <a:xfrm>
            <a:off x="8979370" y="1346498"/>
            <a:ext cx="2468203" cy="99120"/>
          </a:xfrm>
          <a:prstGeom prst="rect">
            <a:avLst/>
          </a:prstGeom>
          <a:noFill/>
          <a:ln/>
        </p:spPr>
        <p:txBody>
          <a:bodyPr wrap="none" lIns="0" tIns="0" rIns="0" bIns="0" rtlCol="0" anchor="t"/>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Columns standardized to snake_case.</a:t>
            </a:r>
            <a:endParaRPr lang="en-US" sz="650" dirty="0"/>
          </a:p>
        </p:txBody>
      </p:sp>
      <p:sp>
        <p:nvSpPr>
          <p:cNvPr id="11" name="Shape 8"/>
          <p:cNvSpPr/>
          <p:nvPr/>
        </p:nvSpPr>
        <p:spPr>
          <a:xfrm>
            <a:off x="6203001" y="1575891"/>
            <a:ext cx="5333569" cy="447576"/>
          </a:xfrm>
          <a:prstGeom prst="roundRect">
            <a:avLst>
              <a:gd name="adj" fmla="val 16629"/>
            </a:avLst>
          </a:prstGeom>
          <a:solidFill>
            <a:srgbClr val="D1EFE4"/>
          </a:solidFill>
          <a:ln w="6350">
            <a:solidFill>
              <a:srgbClr val="B7D5CA"/>
            </a:solidFill>
            <a:prstDash val="solid"/>
          </a:ln>
        </p:spPr>
      </p:sp>
      <p:sp>
        <p:nvSpPr>
          <p:cNvPr id="12" name="Text 9"/>
          <p:cNvSpPr/>
          <p:nvPr/>
        </p:nvSpPr>
        <p:spPr>
          <a:xfrm>
            <a:off x="6291998" y="1664891"/>
            <a:ext cx="5155575" cy="129183"/>
          </a:xfrm>
          <a:prstGeom prst="rect">
            <a:avLst/>
          </a:prstGeom>
          <a:noFill/>
          <a:ln/>
        </p:spPr>
        <p:txBody>
          <a:bodyPr wrap="none" lIns="0" tIns="0" rIns="0" bIns="0" rtlCol="0" anchor="t"/>
          <a:lstStyle/>
          <a:p>
            <a:pPr algn="l" indent="0" marL="0">
              <a:lnSpc>
                <a:spcPct val="104000"/>
              </a:lnSpc>
              <a:buNone/>
            </a:pPr>
            <a:r>
              <a:rPr lang="en-US" sz="800" b="1" dirty="0">
                <a:solidFill>
                  <a:srgbClr val="4B4A4A"/>
                </a:solidFill>
                <a:latin typeface="Noto Serif Bold" pitchFamily="34" charset="0"/>
                <a:ea typeface="Noto Serif Bold" pitchFamily="34" charset="-122"/>
                <a:cs typeface="Noto Serif Bold" pitchFamily="34" charset="-120"/>
              </a:rPr>
              <a:t>Dropped Field</a:t>
            </a:r>
            <a:endParaRPr lang="en-US" sz="800" dirty="0"/>
          </a:p>
        </p:txBody>
      </p:sp>
      <p:sp>
        <p:nvSpPr>
          <p:cNvPr id="13" name="Text 10"/>
          <p:cNvSpPr/>
          <p:nvPr/>
        </p:nvSpPr>
        <p:spPr>
          <a:xfrm>
            <a:off x="6291998" y="1835348"/>
            <a:ext cx="5155575" cy="99120"/>
          </a:xfrm>
          <a:prstGeom prst="rect">
            <a:avLst/>
          </a:prstGeom>
          <a:noFill/>
          <a:ln/>
        </p:spPr>
        <p:txBody>
          <a:bodyPr wrap="none" lIns="0" tIns="0" rIns="0" bIns="0" rtlCol="0" anchor="t"/>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Removed promo_code_used after redundancy check.</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2517378"/>
            <a:ext cx="6296860" cy="516731"/>
          </a:xfrm>
          <a:prstGeom prst="rect">
            <a:avLst/>
          </a:prstGeom>
          <a:noFill/>
          <a:ln/>
        </p:spPr>
        <p:txBody>
          <a:bodyPr wrap="none" lIns="0" tIns="0" rIns="0" bIns="0" rtlCol="0" anchor="t"/>
          <a:lstStyle/>
          <a:p>
            <a:pPr algn="l" indent="0" marL="0">
              <a:lnSpc>
                <a:spcPct val="104000"/>
              </a:lnSpc>
              <a:buNone/>
            </a:pPr>
            <a:r>
              <a:rPr lang="en-US" sz="3250" b="1" dirty="0">
                <a:solidFill>
                  <a:srgbClr val="006747"/>
                </a:solidFill>
                <a:latin typeface="Noto Serif Bold" pitchFamily="34" charset="0"/>
                <a:ea typeface="Noto Serif Bold" pitchFamily="34" charset="-122"/>
                <a:cs typeface="Noto Serif Bold" pitchFamily="34" charset="-120"/>
              </a:rPr>
              <a:t>Feature Engineering</a:t>
            </a:r>
            <a:endParaRPr lang="en-US" sz="3250" dirty="0"/>
          </a:p>
        </p:txBody>
      </p:sp>
      <p:sp>
        <p:nvSpPr>
          <p:cNvPr id="4" name="Text 1"/>
          <p:cNvSpPr/>
          <p:nvPr/>
        </p:nvSpPr>
        <p:spPr>
          <a:xfrm>
            <a:off x="661475" y="3282156"/>
            <a:ext cx="629686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Created age_group by binning ages to analyze revenue by cohort. Derived purchase_frequency_days from timestamps to measure recency and loyalty. Engineered flags for discount usage and subscription status to segment behavior and link to spend patterns.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6747"/>
                </a:solidFill>
                <a:latin typeface="Noto Serif Bold" pitchFamily="34" charset="0"/>
                <a:ea typeface="Noto Serif Bold" pitchFamily="34" charset="-122"/>
                <a:cs typeface="Noto Serif Bold" pitchFamily="34" charset="-120"/>
              </a:rPr>
              <a:t>SQL Analysis: Revenue &amp; High-Value Behavior</a:t>
            </a:r>
            <a:endParaRPr lang="en-US" sz="1600" dirty="0"/>
          </a:p>
        </p:txBody>
      </p:sp>
      <p:sp>
        <p:nvSpPr>
          <p:cNvPr id="3" name="Text 1"/>
          <p:cNvSpPr/>
          <p:nvPr/>
        </p:nvSpPr>
        <p:spPr>
          <a:xfrm>
            <a:off x="661475" y="795933"/>
            <a:ext cx="10868745"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Using PostgreSQL, we answered core business questions: revenue by gender, high-spending users who used discounts (spent above average despite discounts), and subscribers vs non-subscribers — comparing average spend and total revenue across subscription status to quantify subscriber value.</a:t>
            </a:r>
            <a:endParaRPr lang="en-US" sz="650" dirty="0"/>
          </a:p>
        </p:txBody>
      </p:sp>
      <p:pic>
        <p:nvPicPr>
          <p:cNvPr id="4" name="Image 0" descr="preencoded.png">    </p:cNvPr>
          <p:cNvPicPr>
            <a:picLocks noChangeAspect="1"/>
          </p:cNvPicPr>
          <p:nvPr/>
        </p:nvPicPr>
        <p:blipFill>
          <a:blip r:embed="rId1"/>
          <a:stretch>
            <a:fillRect/>
          </a:stretch>
        </p:blipFill>
        <p:spPr>
          <a:xfrm>
            <a:off x="661475" y="1087041"/>
            <a:ext cx="5333569" cy="5333702"/>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03001" y="1087041"/>
            <a:ext cx="206667" cy="206673"/>
          </a:xfrm>
          <a:prstGeom prst="rect">
            <a:avLst/>
          </a:prstGeom>
        </p:spPr>
      </p:pic>
      <p:sp>
        <p:nvSpPr>
          <p:cNvPr id="6" name="Text 2"/>
          <p:cNvSpPr/>
          <p:nvPr/>
        </p:nvSpPr>
        <p:spPr>
          <a:xfrm>
            <a:off x="6461261" y="1087041"/>
            <a:ext cx="5075309" cy="129183"/>
          </a:xfrm>
          <a:prstGeom prst="rect">
            <a:avLst/>
          </a:prstGeom>
          <a:noFill/>
          <a:ln/>
        </p:spPr>
        <p:txBody>
          <a:bodyPr wrap="none" lIns="0" tIns="0" rIns="0" bIns="0" rtlCol="0" anchor="t"/>
          <a:lstStyle/>
          <a:p>
            <a:pPr algn="l" indent="0" marL="0">
              <a:lnSpc>
                <a:spcPct val="104000"/>
              </a:lnSpc>
              <a:buNone/>
            </a:pPr>
            <a:r>
              <a:rPr lang="en-US" sz="800" b="1" dirty="0">
                <a:solidFill>
                  <a:srgbClr val="4B4A4A"/>
                </a:solidFill>
                <a:latin typeface="Noto Serif Bold" pitchFamily="34" charset="0"/>
                <a:ea typeface="Noto Serif Bold" pitchFamily="34" charset="-122"/>
                <a:cs typeface="Noto Serif Bold" pitchFamily="34" charset="-120"/>
              </a:rPr>
              <a:t>Revenue by Gender</a:t>
            </a:r>
            <a:endParaRPr lang="en-US" sz="800" dirty="0"/>
          </a:p>
        </p:txBody>
      </p:sp>
      <p:sp>
        <p:nvSpPr>
          <p:cNvPr id="7" name="Text 3"/>
          <p:cNvSpPr/>
          <p:nvPr/>
        </p:nvSpPr>
        <p:spPr>
          <a:xfrm>
            <a:off x="6461261" y="1257498"/>
            <a:ext cx="5075309" cy="99120"/>
          </a:xfrm>
          <a:prstGeom prst="rect">
            <a:avLst/>
          </a:prstGeom>
          <a:noFill/>
          <a:ln/>
        </p:spPr>
        <p:txBody>
          <a:bodyPr wrap="none" lIns="0" tIns="0" rIns="0" bIns="0" rtlCol="0" anchor="t"/>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Compared total revenue between male and female customers to inform targeting.</a:t>
            </a:r>
            <a:endParaRPr lang="en-US" sz="6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03001" y="1439267"/>
            <a:ext cx="206667" cy="206673"/>
          </a:xfrm>
          <a:prstGeom prst="rect">
            <a:avLst/>
          </a:prstGeom>
        </p:spPr>
      </p:pic>
      <p:sp>
        <p:nvSpPr>
          <p:cNvPr id="9" name="Text 4"/>
          <p:cNvSpPr/>
          <p:nvPr/>
        </p:nvSpPr>
        <p:spPr>
          <a:xfrm>
            <a:off x="6461261" y="1439267"/>
            <a:ext cx="5075309" cy="129183"/>
          </a:xfrm>
          <a:prstGeom prst="rect">
            <a:avLst/>
          </a:prstGeom>
          <a:noFill/>
          <a:ln/>
        </p:spPr>
        <p:txBody>
          <a:bodyPr wrap="none" lIns="0" tIns="0" rIns="0" bIns="0" rtlCol="0" anchor="t"/>
          <a:lstStyle/>
          <a:p>
            <a:pPr algn="l" indent="0" marL="0">
              <a:lnSpc>
                <a:spcPct val="104000"/>
              </a:lnSpc>
              <a:buNone/>
            </a:pPr>
            <a:r>
              <a:rPr lang="en-US" sz="800" b="1" dirty="0">
                <a:solidFill>
                  <a:srgbClr val="4B4A4A"/>
                </a:solidFill>
                <a:latin typeface="Noto Serif Bold" pitchFamily="34" charset="0"/>
                <a:ea typeface="Noto Serif Bold" pitchFamily="34" charset="-122"/>
                <a:cs typeface="Noto Serif Bold" pitchFamily="34" charset="-120"/>
              </a:rPr>
              <a:t>High-Spend Discount Users</a:t>
            </a:r>
            <a:endParaRPr lang="en-US" sz="800" dirty="0"/>
          </a:p>
        </p:txBody>
      </p:sp>
      <p:sp>
        <p:nvSpPr>
          <p:cNvPr id="10" name="Text 5"/>
          <p:cNvSpPr/>
          <p:nvPr/>
        </p:nvSpPr>
        <p:spPr>
          <a:xfrm>
            <a:off x="6461261" y="1609725"/>
            <a:ext cx="5075309" cy="99120"/>
          </a:xfrm>
          <a:prstGeom prst="rect">
            <a:avLst/>
          </a:prstGeom>
          <a:noFill/>
          <a:ln/>
        </p:spPr>
        <p:txBody>
          <a:bodyPr wrap="none" lIns="0" tIns="0" rIns="0" bIns="0" rtlCol="0" anchor="t"/>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Identified customers using discounts who still spend above average.</a:t>
            </a:r>
            <a:endParaRPr lang="en-US" sz="6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3001" y="1791494"/>
            <a:ext cx="206667" cy="206673"/>
          </a:xfrm>
          <a:prstGeom prst="rect">
            <a:avLst/>
          </a:prstGeom>
        </p:spPr>
      </p:pic>
      <p:sp>
        <p:nvSpPr>
          <p:cNvPr id="12" name="Text 6"/>
          <p:cNvSpPr/>
          <p:nvPr/>
        </p:nvSpPr>
        <p:spPr>
          <a:xfrm>
            <a:off x="6461261" y="1791494"/>
            <a:ext cx="5075309" cy="129183"/>
          </a:xfrm>
          <a:prstGeom prst="rect">
            <a:avLst/>
          </a:prstGeom>
          <a:noFill/>
          <a:ln/>
        </p:spPr>
        <p:txBody>
          <a:bodyPr wrap="none" lIns="0" tIns="0" rIns="0" bIns="0" rtlCol="0" anchor="t"/>
          <a:lstStyle/>
          <a:p>
            <a:pPr algn="l" indent="0" marL="0">
              <a:lnSpc>
                <a:spcPct val="104000"/>
              </a:lnSpc>
              <a:buNone/>
            </a:pPr>
            <a:r>
              <a:rPr lang="en-US" sz="800" b="1" dirty="0">
                <a:solidFill>
                  <a:srgbClr val="4B4A4A"/>
                </a:solidFill>
                <a:latin typeface="Noto Serif Bold" pitchFamily="34" charset="0"/>
                <a:ea typeface="Noto Serif Bold" pitchFamily="34" charset="-122"/>
                <a:cs typeface="Noto Serif Bold" pitchFamily="34" charset="-120"/>
              </a:rPr>
              <a:t>Subscribers vs. Non-Subscribers</a:t>
            </a:r>
            <a:endParaRPr lang="en-US" sz="800" dirty="0"/>
          </a:p>
        </p:txBody>
      </p:sp>
      <p:sp>
        <p:nvSpPr>
          <p:cNvPr id="13" name="Text 7"/>
          <p:cNvSpPr/>
          <p:nvPr/>
        </p:nvSpPr>
        <p:spPr>
          <a:xfrm>
            <a:off x="6461261" y="1961952"/>
            <a:ext cx="5075309" cy="99120"/>
          </a:xfrm>
          <a:prstGeom prst="rect">
            <a:avLst/>
          </a:prstGeom>
          <a:noFill/>
          <a:ln/>
        </p:spPr>
        <p:txBody>
          <a:bodyPr wrap="none" lIns="0" tIns="0" rIns="0" bIns="0" rtlCol="0" anchor="t"/>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Measured average spend and total revenue by subscription status.</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49895"/>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6747"/>
                </a:solidFill>
                <a:latin typeface="Noto Serif Bold" pitchFamily="34" charset="0"/>
                <a:ea typeface="Noto Serif Bold" pitchFamily="34" charset="-122"/>
                <a:cs typeface="Noto Serif Bold" pitchFamily="34" charset="-120"/>
              </a:rPr>
              <a:t>Product &amp; Shipping Insights</a:t>
            </a:r>
            <a:endParaRPr lang="en-US" sz="3250" dirty="0"/>
          </a:p>
        </p:txBody>
      </p:sp>
      <p:sp>
        <p:nvSpPr>
          <p:cNvPr id="3" name="Text 1"/>
          <p:cNvSpPr/>
          <p:nvPr/>
        </p:nvSpPr>
        <p:spPr>
          <a:xfrm>
            <a:off x="661475" y="159732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Top 5 products by average rating and the top 3 products per category were extracted to inform product positioning. Shipping analysis compared average purchase amounts between Standard and Express shipping to evaluate premium shipping value and cross-sell opportunities.</a:t>
            </a:r>
            <a:endParaRPr lang="en-US" sz="1300" dirty="0"/>
          </a:p>
        </p:txBody>
      </p:sp>
      <p:pic>
        <p:nvPicPr>
          <p:cNvPr id="4" name="Image 0" descr="preencoded.png">    </p:cNvPr>
          <p:cNvPicPr>
            <a:picLocks noChangeAspect="1"/>
          </p:cNvPicPr>
          <p:nvPr/>
        </p:nvPicPr>
        <p:blipFill>
          <a:blip r:embed="rId1"/>
          <a:stretch>
            <a:fillRect/>
          </a:stretch>
        </p:blipFill>
        <p:spPr>
          <a:xfrm>
            <a:off x="667825" y="2419846"/>
            <a:ext cx="3530512" cy="3530600"/>
          </a:xfrm>
          <a:prstGeom prst="rect">
            <a:avLst/>
          </a:prstGeom>
        </p:spPr>
      </p:pic>
      <p:pic>
        <p:nvPicPr>
          <p:cNvPr id="5" name="Image 1" descr="preencoded.png">    </p:cNvPr>
          <p:cNvPicPr>
            <a:picLocks noChangeAspect="1"/>
          </p:cNvPicPr>
          <p:nvPr/>
        </p:nvPicPr>
        <p:blipFill>
          <a:blip r:embed="rId2"/>
          <a:stretch>
            <a:fillRect/>
          </a:stretch>
        </p:blipFill>
        <p:spPr>
          <a:xfrm>
            <a:off x="4330592" y="2419846"/>
            <a:ext cx="3530512" cy="3530600"/>
          </a:xfrm>
          <a:prstGeom prst="rect">
            <a:avLst/>
          </a:prstGeom>
        </p:spPr>
      </p:pic>
      <p:pic>
        <p:nvPicPr>
          <p:cNvPr id="6" name="Image 2" descr="preencoded.png">    </p:cNvPr>
          <p:cNvPicPr>
            <a:picLocks noChangeAspect="1"/>
          </p:cNvPicPr>
          <p:nvPr/>
        </p:nvPicPr>
        <p:blipFill>
          <a:blip r:embed="rId3"/>
          <a:stretch>
            <a:fillRect/>
          </a:stretch>
        </p:blipFill>
        <p:spPr>
          <a:xfrm>
            <a:off x="7993359" y="2419846"/>
            <a:ext cx="3530512" cy="3530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117699"/>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006747"/>
                </a:solidFill>
                <a:latin typeface="Noto Serif Bold" pitchFamily="34" charset="0"/>
                <a:ea typeface="Noto Serif Bold" pitchFamily="34" charset="-122"/>
                <a:cs typeface="Noto Serif Bold" pitchFamily="34" charset="-120"/>
              </a:rPr>
              <a:t>Discount Dependence &amp; Repeat Buyers</a:t>
            </a:r>
            <a:endParaRPr lang="en-US" sz="3250" dirty="0"/>
          </a:p>
        </p:txBody>
      </p:sp>
      <p:sp>
        <p:nvSpPr>
          <p:cNvPr id="4" name="Text 1"/>
          <p:cNvSpPr/>
          <p:nvPr/>
        </p:nvSpPr>
        <p:spPr>
          <a:xfrm>
            <a:off x="5233360" y="2399209"/>
            <a:ext cx="629686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Identified five products with the highest percentage of discounted purchases to flag pricing risk. Examined repeat buyers: customers with more than five purchases were analyzed to see if they're more likely to subscribe — informing loyalty program targeting and retention tactics.</a:t>
            </a:r>
            <a:endParaRPr lang="en-US" sz="1300" dirty="0"/>
          </a:p>
        </p:txBody>
      </p:sp>
      <p:sp>
        <p:nvSpPr>
          <p:cNvPr id="5" name="Shape 2"/>
          <p:cNvSpPr/>
          <p:nvPr/>
        </p:nvSpPr>
        <p:spPr>
          <a:xfrm>
            <a:off x="5233360" y="3643709"/>
            <a:ext cx="6296860" cy="965597"/>
          </a:xfrm>
          <a:prstGeom prst="roundRect">
            <a:avLst>
              <a:gd name="adj" fmla="val 15416"/>
            </a:avLst>
          </a:prstGeom>
          <a:solidFill>
            <a:srgbClr val="D1EFE4"/>
          </a:solidFill>
          <a:ln w="6350">
            <a:solidFill>
              <a:srgbClr val="B7D5CA"/>
            </a:solidFill>
            <a:prstDash val="solid"/>
          </a:ln>
        </p:spPr>
      </p:sp>
      <p:sp>
        <p:nvSpPr>
          <p:cNvPr id="6" name="Text 3"/>
          <p:cNvSpPr/>
          <p:nvPr/>
        </p:nvSpPr>
        <p:spPr>
          <a:xfrm>
            <a:off x="5405005" y="3815358"/>
            <a:ext cx="5953571" cy="258465"/>
          </a:xfrm>
          <a:prstGeom prst="rect">
            <a:avLst/>
          </a:prstGeom>
          <a:noFill/>
          <a:ln/>
        </p:spPr>
        <p:txBody>
          <a:bodyPr wrap="none" lIns="0" tIns="0" rIns="0" bIns="0" rtlCol="0" anchor="t"/>
          <a:lstStyle/>
          <a:p>
            <a:pPr algn="l" indent="0" marL="0">
              <a:lnSpc>
                <a:spcPct val="104000"/>
              </a:lnSpc>
              <a:buNone/>
            </a:pPr>
            <a:r>
              <a:rPr lang="en-US" sz="1600" b="1" dirty="0">
                <a:solidFill>
                  <a:srgbClr val="4B4A4A"/>
                </a:solidFill>
                <a:latin typeface="Noto Serif Bold" pitchFamily="34" charset="0"/>
                <a:ea typeface="Noto Serif Bold" pitchFamily="34" charset="-122"/>
                <a:cs typeface="Noto Serif Bold" pitchFamily="34" charset="-120"/>
              </a:rPr>
              <a:t>Discount-Dependent Products</a:t>
            </a:r>
            <a:endParaRPr lang="en-US" sz="1600" dirty="0"/>
          </a:p>
        </p:txBody>
      </p:sp>
      <p:sp>
        <p:nvSpPr>
          <p:cNvPr id="7" name="Text 4"/>
          <p:cNvSpPr/>
          <p:nvPr/>
        </p:nvSpPr>
        <p:spPr>
          <a:xfrm>
            <a:off x="5405005" y="4173041"/>
            <a:ext cx="5953571" cy="264616"/>
          </a:xfrm>
          <a:prstGeom prst="rect">
            <a:avLst/>
          </a:prstGeom>
          <a:noFill/>
          <a:ln/>
        </p:spPr>
        <p:txBody>
          <a:bodyPr wrap="none" lIns="0" tIns="0" rIns="0" bIns="0" rtlCol="0" anchor="t"/>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Top 5 products with largest share of discounted purchases.</a:t>
            </a:r>
            <a:endParaRPr lang="en-US" sz="1300" dirty="0"/>
          </a:p>
        </p:txBody>
      </p:sp>
      <p:sp>
        <p:nvSpPr>
          <p:cNvPr id="8" name="Shape 5"/>
          <p:cNvSpPr/>
          <p:nvPr/>
        </p:nvSpPr>
        <p:spPr>
          <a:xfrm>
            <a:off x="5233360" y="4774605"/>
            <a:ext cx="6296860" cy="965597"/>
          </a:xfrm>
          <a:prstGeom prst="roundRect">
            <a:avLst>
              <a:gd name="adj" fmla="val 15416"/>
            </a:avLst>
          </a:prstGeom>
          <a:solidFill>
            <a:srgbClr val="D1EFE4"/>
          </a:solidFill>
          <a:ln w="6350">
            <a:solidFill>
              <a:srgbClr val="B7D5CA"/>
            </a:solidFill>
            <a:prstDash val="solid"/>
          </a:ln>
        </p:spPr>
      </p:sp>
      <p:sp>
        <p:nvSpPr>
          <p:cNvPr id="9" name="Text 6"/>
          <p:cNvSpPr/>
          <p:nvPr/>
        </p:nvSpPr>
        <p:spPr>
          <a:xfrm>
            <a:off x="5405005" y="4946253"/>
            <a:ext cx="5953571" cy="258465"/>
          </a:xfrm>
          <a:prstGeom prst="rect">
            <a:avLst/>
          </a:prstGeom>
          <a:noFill/>
          <a:ln/>
        </p:spPr>
        <p:txBody>
          <a:bodyPr wrap="none" lIns="0" tIns="0" rIns="0" bIns="0" rtlCol="0" anchor="t"/>
          <a:lstStyle/>
          <a:p>
            <a:pPr algn="l" indent="0" marL="0">
              <a:lnSpc>
                <a:spcPct val="104000"/>
              </a:lnSpc>
              <a:buNone/>
            </a:pPr>
            <a:r>
              <a:rPr lang="en-US" sz="1600" b="1" dirty="0">
                <a:solidFill>
                  <a:srgbClr val="4B4A4A"/>
                </a:solidFill>
                <a:latin typeface="Noto Serif Bold" pitchFamily="34" charset="0"/>
                <a:ea typeface="Noto Serif Bold" pitchFamily="34" charset="-122"/>
                <a:cs typeface="Noto Serif Bold" pitchFamily="34" charset="-120"/>
              </a:rPr>
              <a:t>Repeat Buyer Behavior</a:t>
            </a:r>
            <a:endParaRPr lang="en-US" sz="1600" dirty="0"/>
          </a:p>
        </p:txBody>
      </p:sp>
      <p:sp>
        <p:nvSpPr>
          <p:cNvPr id="10" name="Text 7"/>
          <p:cNvSpPr/>
          <p:nvPr/>
        </p:nvSpPr>
        <p:spPr>
          <a:xfrm>
            <a:off x="5405005" y="5303937"/>
            <a:ext cx="5953571" cy="264616"/>
          </a:xfrm>
          <a:prstGeom prst="rect">
            <a:avLst/>
          </a:prstGeom>
          <a:noFill/>
          <a:ln/>
        </p:spPr>
        <p:txBody>
          <a:bodyPr wrap="none" lIns="0" tIns="0" rIns="0" bIns="0" rtlCol="0" anchor="t"/>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Customers with &gt;5 purchases evaluated for subscription likelihood.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6747"/>
                </a:solidFill>
                <a:latin typeface="Noto Serif Bold" pitchFamily="34" charset="0"/>
                <a:ea typeface="Noto Serif Bold" pitchFamily="34" charset="-122"/>
                <a:cs typeface="Noto Serif Bold" pitchFamily="34" charset="-120"/>
              </a:rPr>
              <a:t>Customer Segmentation &amp; Revenue by Age</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Segmented customers into New, Returning, and Loyal based on purchase history for targeted strategies. Calculated revenue contribution by age_group to prioritize marketing spend on high-revenue cohorts and tailor creative and offers for each demographic.</a:t>
            </a:r>
            <a:endParaRPr lang="en-US" sz="650" dirty="0"/>
          </a:p>
        </p:txBody>
      </p:sp>
      <p:pic>
        <p:nvPicPr>
          <p:cNvPr id="4" name="Image 0" descr="preencoded.png">    </p:cNvPr>
          <p:cNvPicPr>
            <a:picLocks noChangeAspect="1"/>
          </p:cNvPicPr>
          <p:nvPr/>
        </p:nvPicPr>
        <p:blipFill>
          <a:blip r:embed="rId1"/>
          <a:stretch>
            <a:fillRect/>
          </a:stretch>
        </p:blipFill>
        <p:spPr>
          <a:xfrm>
            <a:off x="661475" y="987921"/>
            <a:ext cx="5333569" cy="2669480"/>
          </a:xfrm>
          <a:prstGeom prst="rect">
            <a:avLst/>
          </a:prstGeom>
        </p:spPr>
      </p:pic>
      <p:sp>
        <p:nvSpPr>
          <p:cNvPr id="5" name="Text 2"/>
          <p:cNvSpPr/>
          <p:nvPr/>
        </p:nvSpPr>
        <p:spPr>
          <a:xfrm>
            <a:off x="685487" y="2210434"/>
            <a:ext cx="1001696" cy="149858"/>
          </a:xfrm>
          <a:prstGeom prst="rect">
            <a:avLst/>
          </a:prstGeom>
          <a:noFill/>
          <a:ln/>
        </p:spPr>
        <p:txBody>
          <a:bodyPr wrap="none" lIns="0" tIns="0" rIns="0" bIns="0" rtlCol="0" anchor="t"/>
          <a:lstStyle/>
          <a:p>
            <a:pPr algn="ctr" indent="0" marL="0">
              <a:lnSpc>
                <a:spcPct val="104000"/>
              </a:lnSpc>
              <a:buNone/>
            </a:pPr>
            <a:r>
              <a:rPr lang="en-US" sz="900" b="1" dirty="0">
                <a:solidFill>
                  <a:srgbClr val="4B4A4A"/>
                </a:solidFill>
                <a:latin typeface="Noto Serif Bold" pitchFamily="34" charset="0"/>
                <a:ea typeface="Noto Serif Bold" pitchFamily="34" charset="-122"/>
                <a:cs typeface="Noto Serif Bold" pitchFamily="34" charset="-120"/>
              </a:rPr>
              <a:t>Low Frequency</a:t>
            </a:r>
            <a:endParaRPr lang="en-US" sz="900" dirty="0"/>
          </a:p>
        </p:txBody>
      </p:sp>
      <p:sp>
        <p:nvSpPr>
          <p:cNvPr id="6" name="Text 3"/>
          <p:cNvSpPr/>
          <p:nvPr/>
        </p:nvSpPr>
        <p:spPr>
          <a:xfrm>
            <a:off x="2514464" y="3430116"/>
            <a:ext cx="1630004" cy="149858"/>
          </a:xfrm>
          <a:prstGeom prst="rect">
            <a:avLst/>
          </a:prstGeom>
          <a:noFill/>
          <a:ln/>
        </p:spPr>
        <p:txBody>
          <a:bodyPr wrap="none" lIns="0" tIns="0" rIns="0" bIns="0" rtlCol="0" anchor="t"/>
          <a:lstStyle/>
          <a:p>
            <a:pPr algn="ctr" indent="0" marL="0">
              <a:lnSpc>
                <a:spcPct val="104000"/>
              </a:lnSpc>
              <a:buNone/>
            </a:pPr>
            <a:r>
              <a:rPr lang="en-US" sz="900" b="1" dirty="0">
                <a:solidFill>
                  <a:srgbClr val="4B4A4A"/>
                </a:solidFill>
                <a:latin typeface="Noto Serif Bold" pitchFamily="34" charset="0"/>
                <a:ea typeface="Noto Serif Bold" pitchFamily="34" charset="-122"/>
                <a:cs typeface="Noto Serif Bold" pitchFamily="34" charset="-120"/>
              </a:rPr>
              <a:t>Low Revenue Contribution</a:t>
            </a:r>
            <a:endParaRPr lang="en-US" sz="900" dirty="0"/>
          </a:p>
        </p:txBody>
      </p:sp>
      <p:sp>
        <p:nvSpPr>
          <p:cNvPr id="7" name="Text 4"/>
          <p:cNvSpPr/>
          <p:nvPr/>
        </p:nvSpPr>
        <p:spPr>
          <a:xfrm>
            <a:off x="4964008" y="2210434"/>
            <a:ext cx="1001696" cy="149858"/>
          </a:xfrm>
          <a:prstGeom prst="rect">
            <a:avLst/>
          </a:prstGeom>
          <a:noFill/>
          <a:ln/>
        </p:spPr>
        <p:txBody>
          <a:bodyPr wrap="none" lIns="0" tIns="0" rIns="0" bIns="0" rtlCol="0" anchor="t"/>
          <a:lstStyle/>
          <a:p>
            <a:pPr algn="ctr" indent="0" marL="0">
              <a:lnSpc>
                <a:spcPct val="104000"/>
              </a:lnSpc>
              <a:buNone/>
            </a:pPr>
            <a:r>
              <a:rPr lang="en-US" sz="900" b="1" dirty="0">
                <a:solidFill>
                  <a:srgbClr val="4B4A4A"/>
                </a:solidFill>
                <a:latin typeface="Noto Serif Bold" pitchFamily="34" charset="0"/>
                <a:ea typeface="Noto Serif Bold" pitchFamily="34" charset="-122"/>
                <a:cs typeface="Noto Serif Bold" pitchFamily="34" charset="-120"/>
              </a:rPr>
              <a:t>High Frequency</a:t>
            </a:r>
            <a:endParaRPr lang="en-US" sz="900" dirty="0"/>
          </a:p>
        </p:txBody>
      </p:sp>
      <p:sp>
        <p:nvSpPr>
          <p:cNvPr id="8" name="Text 5"/>
          <p:cNvSpPr/>
          <p:nvPr/>
        </p:nvSpPr>
        <p:spPr>
          <a:xfrm>
            <a:off x="2495066" y="1097484"/>
            <a:ext cx="1662806" cy="149858"/>
          </a:xfrm>
          <a:prstGeom prst="rect">
            <a:avLst/>
          </a:prstGeom>
          <a:noFill/>
          <a:ln/>
        </p:spPr>
        <p:txBody>
          <a:bodyPr wrap="none" lIns="0" tIns="0" rIns="0" bIns="0" rtlCol="0" anchor="t"/>
          <a:lstStyle/>
          <a:p>
            <a:pPr algn="ctr" indent="0" marL="0">
              <a:lnSpc>
                <a:spcPct val="104000"/>
              </a:lnSpc>
              <a:buNone/>
            </a:pPr>
            <a:r>
              <a:rPr lang="en-US" sz="900" b="1" dirty="0">
                <a:solidFill>
                  <a:srgbClr val="4B4A4A"/>
                </a:solidFill>
                <a:latin typeface="Noto Serif Bold" pitchFamily="34" charset="0"/>
                <a:ea typeface="Noto Serif Bold" pitchFamily="34" charset="-122"/>
                <a:cs typeface="Noto Serif Bold" pitchFamily="34" charset="-120"/>
              </a:rPr>
              <a:t>High Revenue Contribution</a:t>
            </a:r>
            <a:endParaRPr lang="en-US" sz="900" dirty="0"/>
          </a:p>
        </p:txBody>
      </p:sp>
      <p:sp>
        <p:nvSpPr>
          <p:cNvPr id="9" name="Text 6"/>
          <p:cNvSpPr/>
          <p:nvPr/>
        </p:nvSpPr>
        <p:spPr>
          <a:xfrm>
            <a:off x="2156062" y="2821857"/>
            <a:ext cx="1028337" cy="269745"/>
          </a:xfrm>
          <a:prstGeom prst="rect">
            <a:avLst/>
          </a:prstGeom>
          <a:noFill/>
          <a:ln/>
        </p:spPr>
        <p:txBody>
          <a:bodyPr wrap="square" lIns="0" tIns="0" rIns="0" bIns="0" rtlCol="0" anchor="t">
            <a:normAutofit/>
          </a:bodyPr>
          <a:lstStyle/>
          <a:p>
            <a:pPr algn="ctr" indent="0" marL="0">
              <a:lnSpc>
                <a:spcPct val="78000"/>
              </a:lnSpc>
              <a:buNone/>
            </a:pPr>
            <a:r>
              <a:rPr lang="en-US" sz="750" dirty="0">
                <a:solidFill>
                  <a:srgbClr val="4B4A4A"/>
                </a:solidFill>
                <a:latin typeface="Geist" pitchFamily="34" charset="0"/>
                <a:ea typeface="Geist" pitchFamily="34" charset="-122"/>
                <a:cs typeface="Geist" pitchFamily="34" charset="-120"/>
              </a:rPr>
              <a:t>Loyal Customers - Frequent buyers, high spend</a:t>
            </a:r>
            <a:endParaRPr lang="en-US" sz="750" dirty="0"/>
          </a:p>
        </p:txBody>
      </p:sp>
      <p:sp>
        <p:nvSpPr>
          <p:cNvPr id="10" name="Text 7"/>
          <p:cNvSpPr/>
          <p:nvPr/>
        </p:nvSpPr>
        <p:spPr>
          <a:xfrm>
            <a:off x="3568027" y="2827185"/>
            <a:ext cx="1028337" cy="269745"/>
          </a:xfrm>
          <a:prstGeom prst="rect">
            <a:avLst/>
          </a:prstGeom>
          <a:noFill/>
          <a:ln/>
        </p:spPr>
        <p:txBody>
          <a:bodyPr wrap="square" lIns="0" tIns="0" rIns="0" bIns="0" rtlCol="0" anchor="t">
            <a:normAutofit/>
          </a:bodyPr>
          <a:lstStyle/>
          <a:p>
            <a:pPr algn="ctr" indent="0" marL="0">
              <a:lnSpc>
                <a:spcPct val="78000"/>
              </a:lnSpc>
              <a:buNone/>
            </a:pPr>
            <a:r>
              <a:rPr lang="en-US" sz="750" dirty="0">
                <a:solidFill>
                  <a:srgbClr val="4B4A4A"/>
                </a:solidFill>
                <a:latin typeface="Geist" pitchFamily="34" charset="0"/>
                <a:ea typeface="Geist" pitchFamily="34" charset="-122"/>
                <a:cs typeface="Geist" pitchFamily="34" charset="-120"/>
              </a:rPr>
              <a:t>At-Risk Customers - Infrequent, declining spend</a:t>
            </a:r>
            <a:endParaRPr lang="en-US" sz="750" dirty="0"/>
          </a:p>
        </p:txBody>
      </p:sp>
      <p:sp>
        <p:nvSpPr>
          <p:cNvPr id="11" name="Text 8"/>
          <p:cNvSpPr/>
          <p:nvPr/>
        </p:nvSpPr>
        <p:spPr>
          <a:xfrm>
            <a:off x="3568027" y="1841449"/>
            <a:ext cx="1028337" cy="269746"/>
          </a:xfrm>
          <a:prstGeom prst="rect">
            <a:avLst/>
          </a:prstGeom>
          <a:noFill/>
          <a:ln/>
        </p:spPr>
        <p:txBody>
          <a:bodyPr wrap="square" lIns="0" tIns="0" rIns="0" bIns="0" rtlCol="0" anchor="t">
            <a:normAutofit/>
          </a:bodyPr>
          <a:lstStyle/>
          <a:p>
            <a:pPr algn="ctr" indent="0" marL="0">
              <a:lnSpc>
                <a:spcPct val="78000"/>
              </a:lnSpc>
              <a:buNone/>
            </a:pPr>
            <a:r>
              <a:rPr lang="en-US" sz="750" dirty="0">
                <a:solidFill>
                  <a:srgbClr val="4B4A4A"/>
                </a:solidFill>
                <a:latin typeface="Geist" pitchFamily="34" charset="0"/>
                <a:ea typeface="Geist" pitchFamily="34" charset="-122"/>
                <a:cs typeface="Geist" pitchFamily="34" charset="-120"/>
              </a:rPr>
              <a:t>Returning Customers - Repeat buyers, moderate spend</a:t>
            </a:r>
            <a:endParaRPr lang="en-US" sz="750" dirty="0"/>
          </a:p>
        </p:txBody>
      </p:sp>
      <p:sp>
        <p:nvSpPr>
          <p:cNvPr id="12" name="Text 9"/>
          <p:cNvSpPr/>
          <p:nvPr/>
        </p:nvSpPr>
        <p:spPr>
          <a:xfrm>
            <a:off x="2124093" y="1886406"/>
            <a:ext cx="1028337" cy="179830"/>
          </a:xfrm>
          <a:prstGeom prst="rect">
            <a:avLst/>
          </a:prstGeom>
          <a:noFill/>
          <a:ln/>
        </p:spPr>
        <p:txBody>
          <a:bodyPr wrap="square" lIns="0" tIns="0" rIns="0" bIns="0" rtlCol="0" anchor="t">
            <a:normAutofit/>
          </a:bodyPr>
          <a:lstStyle/>
          <a:p>
            <a:pPr algn="ctr" indent="0" marL="0">
              <a:lnSpc>
                <a:spcPct val="78000"/>
              </a:lnSpc>
              <a:buNone/>
            </a:pPr>
            <a:r>
              <a:rPr lang="en-US" sz="750" dirty="0">
                <a:solidFill>
                  <a:srgbClr val="4B4A4A"/>
                </a:solidFill>
                <a:latin typeface="Geist" pitchFamily="34" charset="0"/>
                <a:ea typeface="Geist" pitchFamily="34" charset="-122"/>
                <a:cs typeface="Geist" pitchFamily="34" charset="-120"/>
              </a:rPr>
              <a:t>New Customers - First purchase, low spend</a:t>
            </a:r>
            <a:endParaRPr lang="en-US" sz="750" dirty="0"/>
          </a:p>
        </p:txBody>
      </p:sp>
      <p:pic>
        <p:nvPicPr>
          <p:cNvPr id="13" name="Image 1" descr="preencoded.png">    </p:cNvPr>
          <p:cNvPicPr>
            <a:picLocks noChangeAspect="1"/>
          </p:cNvPicPr>
          <p:nvPr/>
        </p:nvPicPr>
        <p:blipFill>
          <a:blip r:embed="rId2"/>
          <a:stretch>
            <a:fillRect/>
          </a:stretch>
        </p:blipFill>
        <p:spPr>
          <a:xfrm>
            <a:off x="6203001" y="987921"/>
            <a:ext cx="5333569" cy="5333702"/>
          </a:xfrm>
          <a:prstGeom prst="rect">
            <a:avLst/>
          </a:prstGeom>
        </p:spPr>
      </p:pic>
      <p:sp>
        <p:nvSpPr>
          <p:cNvPr id="14" name="Text 10"/>
          <p:cNvSpPr/>
          <p:nvPr/>
        </p:nvSpPr>
        <p:spPr>
          <a:xfrm>
            <a:off x="6203001" y="6368058"/>
            <a:ext cx="5333569"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4B4A4A"/>
                </a:solidFill>
                <a:latin typeface="Geist" pitchFamily="34" charset="0"/>
                <a:ea typeface="Geist" pitchFamily="34" charset="-122"/>
                <a:cs typeface="Geist" pitchFamily="34" charset="-120"/>
              </a:rPr>
              <a:t>Revenue by age group highlights which cohorts drive the most revenue and should be the focus of targeted campaigns and subscription promotions.</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2517378"/>
            <a:ext cx="6296860" cy="516731"/>
          </a:xfrm>
          <a:prstGeom prst="rect">
            <a:avLst/>
          </a:prstGeom>
          <a:noFill/>
          <a:ln/>
        </p:spPr>
        <p:txBody>
          <a:bodyPr wrap="none" lIns="0" tIns="0" rIns="0" bIns="0" rtlCol="0" anchor="t"/>
          <a:lstStyle/>
          <a:p>
            <a:pPr algn="l" indent="0" marL="0">
              <a:lnSpc>
                <a:spcPct val="104000"/>
              </a:lnSpc>
              <a:buNone/>
            </a:pPr>
            <a:r>
              <a:rPr lang="en-US" sz="3250" b="1" dirty="0">
                <a:solidFill>
                  <a:srgbClr val="006747"/>
                </a:solidFill>
                <a:latin typeface="Noto Serif Bold" pitchFamily="34" charset="0"/>
                <a:ea typeface="Noto Serif Bold" pitchFamily="34" charset="-122"/>
                <a:cs typeface="Noto Serif Bold" pitchFamily="34" charset="-120"/>
              </a:rPr>
              <a:t>Power BI Dashboard</a:t>
            </a:r>
            <a:endParaRPr lang="en-US" sz="3250" dirty="0"/>
          </a:p>
        </p:txBody>
      </p:sp>
      <p:sp>
        <p:nvSpPr>
          <p:cNvPr id="4" name="Text 1"/>
          <p:cNvSpPr/>
          <p:nvPr/>
        </p:nvSpPr>
        <p:spPr>
          <a:xfrm>
            <a:off x="661475" y="3282156"/>
            <a:ext cx="629686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B4A4A"/>
                </a:solidFill>
                <a:latin typeface="Geist" pitchFamily="34" charset="0"/>
                <a:ea typeface="Geist" pitchFamily="34" charset="-122"/>
                <a:cs typeface="Geist" pitchFamily="34" charset="-120"/>
              </a:rPr>
              <a:t>An interactive Power BI dashboard was built to visualize KPIs: revenue breakdowns, top products, discount dependency, subscriber value, shipping comparisons, and segment performance. The dashboard enables stakeholders to filter by category, age_group, subscription status, and shipping type for on-demand insight.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03932"/>
            <a:ext cx="10868745" cy="484485"/>
          </a:xfrm>
          <a:prstGeom prst="rect">
            <a:avLst/>
          </a:prstGeom>
          <a:noFill/>
          <a:ln/>
        </p:spPr>
        <p:txBody>
          <a:bodyPr wrap="none" lIns="0" tIns="0" rIns="0" bIns="0" rtlCol="0" anchor="t"/>
          <a:lstStyle/>
          <a:p>
            <a:pPr algn="l" indent="0" marL="0">
              <a:lnSpc>
                <a:spcPct val="104000"/>
              </a:lnSpc>
              <a:buNone/>
            </a:pPr>
            <a:r>
              <a:rPr lang="en-US" sz="3050" b="1" dirty="0">
                <a:solidFill>
                  <a:srgbClr val="006747"/>
                </a:solidFill>
                <a:latin typeface="Noto Serif Bold" pitchFamily="34" charset="0"/>
                <a:ea typeface="Noto Serif Bold" pitchFamily="34" charset="-122"/>
                <a:cs typeface="Noto Serif Bold" pitchFamily="34" charset="-120"/>
              </a:rPr>
              <a:t>Business Recommendations</a:t>
            </a:r>
            <a:endParaRPr lang="en-US" sz="3050" dirty="0"/>
          </a:p>
        </p:txBody>
      </p:sp>
      <p:pic>
        <p:nvPicPr>
          <p:cNvPr id="3" name="Image 0" descr="preencoded.png">    </p:cNvPr>
          <p:cNvPicPr>
            <a:picLocks noChangeAspect="1"/>
          </p:cNvPicPr>
          <p:nvPr/>
        </p:nvPicPr>
        <p:blipFill>
          <a:blip r:embed="rId1"/>
          <a:stretch>
            <a:fillRect/>
          </a:stretch>
        </p:blipFill>
        <p:spPr>
          <a:xfrm>
            <a:off x="661475" y="1279128"/>
            <a:ext cx="748388" cy="462459"/>
          </a:xfrm>
          <a:prstGeom prst="rect">
            <a:avLst/>
          </a:prstGeom>
        </p:spPr>
      </p:pic>
      <p:sp>
        <p:nvSpPr>
          <p:cNvPr id="4" name="Text 1"/>
          <p:cNvSpPr/>
          <p:nvPr/>
        </p:nvSpPr>
        <p:spPr>
          <a:xfrm>
            <a:off x="1591528" y="1279128"/>
            <a:ext cx="1650859" cy="484386"/>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4B4A4A"/>
                </a:solidFill>
                <a:latin typeface="Noto Serif Bold" pitchFamily="34" charset="0"/>
                <a:ea typeface="Noto Serif Bold" pitchFamily="34" charset="-122"/>
                <a:cs typeface="Noto Serif Bold" pitchFamily="34" charset="-120"/>
              </a:rPr>
              <a:t>Boost Subscriptions</a:t>
            </a:r>
            <a:endParaRPr lang="en-US" sz="1500" dirty="0"/>
          </a:p>
        </p:txBody>
      </p:sp>
      <p:sp>
        <p:nvSpPr>
          <p:cNvPr id="5" name="Text 2"/>
          <p:cNvSpPr/>
          <p:nvPr/>
        </p:nvSpPr>
        <p:spPr>
          <a:xfrm>
            <a:off x="1591528" y="1850727"/>
            <a:ext cx="1650859" cy="1441847"/>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B4A4A"/>
                </a:solidFill>
                <a:latin typeface="Geist" pitchFamily="34" charset="0"/>
                <a:ea typeface="Geist" pitchFamily="34" charset="-122"/>
                <a:cs typeface="Geist" pitchFamily="34" charset="-120"/>
              </a:rPr>
              <a:t>Promote exclusive benefits to increase subscriber conversion and capture higher average spend from subscribers.</a:t>
            </a:r>
            <a:endParaRPr lang="en-US" sz="1200" dirty="0"/>
          </a:p>
        </p:txBody>
      </p:sp>
      <p:pic>
        <p:nvPicPr>
          <p:cNvPr id="6" name="Image 1" descr="preencoded.png">    </p:cNvPr>
          <p:cNvPicPr>
            <a:picLocks noChangeAspect="1"/>
          </p:cNvPicPr>
          <p:nvPr/>
        </p:nvPicPr>
        <p:blipFill>
          <a:blip r:embed="rId2"/>
          <a:stretch>
            <a:fillRect/>
          </a:stretch>
        </p:blipFill>
        <p:spPr>
          <a:xfrm>
            <a:off x="3424053" y="1279128"/>
            <a:ext cx="748388" cy="462459"/>
          </a:xfrm>
          <a:prstGeom prst="rect">
            <a:avLst/>
          </a:prstGeom>
        </p:spPr>
      </p:pic>
      <p:sp>
        <p:nvSpPr>
          <p:cNvPr id="7" name="Text 3"/>
          <p:cNvSpPr/>
          <p:nvPr/>
        </p:nvSpPr>
        <p:spPr>
          <a:xfrm>
            <a:off x="4354106" y="1279128"/>
            <a:ext cx="1650859" cy="726579"/>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4B4A4A"/>
                </a:solidFill>
                <a:latin typeface="Noto Serif Bold" pitchFamily="34" charset="0"/>
                <a:ea typeface="Noto Serif Bold" pitchFamily="34" charset="-122"/>
                <a:cs typeface="Noto Serif Bold" pitchFamily="34" charset="-120"/>
              </a:rPr>
              <a:t>Customer Loyalty Programs</a:t>
            </a:r>
            <a:endParaRPr lang="en-US" sz="1500" dirty="0"/>
          </a:p>
        </p:txBody>
      </p:sp>
      <p:sp>
        <p:nvSpPr>
          <p:cNvPr id="8" name="Text 4"/>
          <p:cNvSpPr/>
          <p:nvPr/>
        </p:nvSpPr>
        <p:spPr>
          <a:xfrm>
            <a:off x="4354106" y="2092920"/>
            <a:ext cx="1650859" cy="961231"/>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B4A4A"/>
                </a:solidFill>
                <a:latin typeface="Geist" pitchFamily="34" charset="0"/>
                <a:ea typeface="Geist" pitchFamily="34" charset="-122"/>
                <a:cs typeface="Geist" pitchFamily="34" charset="-120"/>
              </a:rPr>
              <a:t>Reward repeat buyers to move them into the Loyal segment and increase lifetime value.</a:t>
            </a:r>
            <a:endParaRPr lang="en-US" sz="1200" dirty="0"/>
          </a:p>
        </p:txBody>
      </p:sp>
      <p:pic>
        <p:nvPicPr>
          <p:cNvPr id="9" name="Image 2" descr="preencoded.png">    </p:cNvPr>
          <p:cNvPicPr>
            <a:picLocks noChangeAspect="1"/>
          </p:cNvPicPr>
          <p:nvPr/>
        </p:nvPicPr>
        <p:blipFill>
          <a:blip r:embed="rId3"/>
          <a:stretch>
            <a:fillRect/>
          </a:stretch>
        </p:blipFill>
        <p:spPr>
          <a:xfrm>
            <a:off x="6186630" y="1279128"/>
            <a:ext cx="748388" cy="462459"/>
          </a:xfrm>
          <a:prstGeom prst="rect">
            <a:avLst/>
          </a:prstGeom>
        </p:spPr>
      </p:pic>
      <p:sp>
        <p:nvSpPr>
          <p:cNvPr id="10" name="Text 5"/>
          <p:cNvSpPr/>
          <p:nvPr/>
        </p:nvSpPr>
        <p:spPr>
          <a:xfrm>
            <a:off x="7116684" y="1279128"/>
            <a:ext cx="1650859" cy="484386"/>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4B4A4A"/>
                </a:solidFill>
                <a:latin typeface="Noto Serif Bold" pitchFamily="34" charset="0"/>
                <a:ea typeface="Noto Serif Bold" pitchFamily="34" charset="-122"/>
                <a:cs typeface="Noto Serif Bold" pitchFamily="34" charset="-120"/>
              </a:rPr>
              <a:t>Review Discount Policy</a:t>
            </a:r>
            <a:endParaRPr lang="en-US" sz="1500" dirty="0"/>
          </a:p>
        </p:txBody>
      </p:sp>
      <p:sp>
        <p:nvSpPr>
          <p:cNvPr id="11" name="Text 6"/>
          <p:cNvSpPr/>
          <p:nvPr/>
        </p:nvSpPr>
        <p:spPr>
          <a:xfrm>
            <a:off x="7116684" y="1850727"/>
            <a:ext cx="1650859" cy="1441847"/>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B4A4A"/>
                </a:solidFill>
                <a:latin typeface="Geist" pitchFamily="34" charset="0"/>
                <a:ea typeface="Geist" pitchFamily="34" charset="-122"/>
                <a:cs typeface="Geist" pitchFamily="34" charset="-120"/>
              </a:rPr>
              <a:t>Balance short-term sales boosts with margin control by revising discount strategies for discount-dependent products.</a:t>
            </a:r>
            <a:endParaRPr lang="en-US" sz="1200" dirty="0"/>
          </a:p>
        </p:txBody>
      </p:sp>
      <p:pic>
        <p:nvPicPr>
          <p:cNvPr id="12" name="Image 3" descr="preencoded.png">    </p:cNvPr>
          <p:cNvPicPr>
            <a:picLocks noChangeAspect="1"/>
          </p:cNvPicPr>
          <p:nvPr/>
        </p:nvPicPr>
        <p:blipFill>
          <a:blip r:embed="rId4"/>
          <a:stretch>
            <a:fillRect/>
          </a:stretch>
        </p:blipFill>
        <p:spPr>
          <a:xfrm>
            <a:off x="8949208" y="1279128"/>
            <a:ext cx="748488" cy="462558"/>
          </a:xfrm>
          <a:prstGeom prst="rect">
            <a:avLst/>
          </a:prstGeom>
        </p:spPr>
      </p:pic>
      <p:sp>
        <p:nvSpPr>
          <p:cNvPr id="13" name="Text 7"/>
          <p:cNvSpPr/>
          <p:nvPr/>
        </p:nvSpPr>
        <p:spPr>
          <a:xfrm>
            <a:off x="9879361" y="1279128"/>
            <a:ext cx="1650859" cy="484386"/>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4B4A4A"/>
                </a:solidFill>
                <a:latin typeface="Noto Serif Bold" pitchFamily="34" charset="0"/>
                <a:ea typeface="Noto Serif Bold" pitchFamily="34" charset="-122"/>
                <a:cs typeface="Noto Serif Bold" pitchFamily="34" charset="-120"/>
              </a:rPr>
              <a:t>Product Positioning</a:t>
            </a:r>
            <a:endParaRPr lang="en-US" sz="1500" dirty="0"/>
          </a:p>
        </p:txBody>
      </p:sp>
      <p:sp>
        <p:nvSpPr>
          <p:cNvPr id="14" name="Text 8"/>
          <p:cNvSpPr/>
          <p:nvPr/>
        </p:nvSpPr>
        <p:spPr>
          <a:xfrm>
            <a:off x="9879361" y="1850727"/>
            <a:ext cx="1650859" cy="1441847"/>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B4A4A"/>
                </a:solidFill>
                <a:latin typeface="Geist" pitchFamily="34" charset="0"/>
                <a:ea typeface="Geist" pitchFamily="34" charset="-122"/>
                <a:cs typeface="Geist" pitchFamily="34" charset="-120"/>
              </a:rPr>
              <a:t>Highlight top-rated and best-selling products in campaigns to capitalize on social proof and conversion lift.</a:t>
            </a:r>
            <a:endParaRPr lang="en-US" sz="1200" dirty="0"/>
          </a:p>
        </p:txBody>
      </p:sp>
      <p:pic>
        <p:nvPicPr>
          <p:cNvPr id="15" name="Image 4" descr="preencoded.png">    </p:cNvPr>
          <p:cNvPicPr>
            <a:picLocks noChangeAspect="1"/>
          </p:cNvPicPr>
          <p:nvPr/>
        </p:nvPicPr>
        <p:blipFill>
          <a:blip r:embed="rId5"/>
          <a:stretch>
            <a:fillRect/>
          </a:stretch>
        </p:blipFill>
        <p:spPr>
          <a:xfrm>
            <a:off x="661475" y="3583285"/>
            <a:ext cx="748388" cy="462459"/>
          </a:xfrm>
          <a:prstGeom prst="rect">
            <a:avLst/>
          </a:prstGeom>
        </p:spPr>
      </p:pic>
      <p:sp>
        <p:nvSpPr>
          <p:cNvPr id="16" name="Text 9"/>
          <p:cNvSpPr/>
          <p:nvPr/>
        </p:nvSpPr>
        <p:spPr>
          <a:xfrm>
            <a:off x="1591528" y="3583285"/>
            <a:ext cx="1650859" cy="484386"/>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4B4A4A"/>
                </a:solidFill>
                <a:latin typeface="Noto Serif Bold" pitchFamily="34" charset="0"/>
                <a:ea typeface="Noto Serif Bold" pitchFamily="34" charset="-122"/>
                <a:cs typeface="Noto Serif Bold" pitchFamily="34" charset="-120"/>
              </a:rPr>
              <a:t>Targeted Marketing</a:t>
            </a:r>
            <a:endParaRPr lang="en-US" sz="1500" dirty="0"/>
          </a:p>
        </p:txBody>
      </p:sp>
      <p:sp>
        <p:nvSpPr>
          <p:cNvPr id="17" name="Text 10"/>
          <p:cNvSpPr/>
          <p:nvPr/>
        </p:nvSpPr>
        <p:spPr>
          <a:xfrm>
            <a:off x="1591528" y="4154884"/>
            <a:ext cx="1650859" cy="1441847"/>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B4A4A"/>
                </a:solidFill>
                <a:latin typeface="Geist" pitchFamily="34" charset="0"/>
                <a:ea typeface="Geist" pitchFamily="34" charset="-122"/>
                <a:cs typeface="Geist" pitchFamily="34" charset="-120"/>
              </a:rPr>
              <a:t>Focus marketing on high-revenue age groups and express-shipping users to maximize ROI on ad spend and promotions.</a:t>
            </a:r>
            <a:endParaRPr lang="en-US" sz="1200" dirty="0"/>
          </a:p>
        </p:txBody>
      </p:sp>
      <p:sp>
        <p:nvSpPr>
          <p:cNvPr id="18" name="Shape 11"/>
          <p:cNvSpPr/>
          <p:nvPr/>
        </p:nvSpPr>
        <p:spPr>
          <a:xfrm>
            <a:off x="661475" y="5760244"/>
            <a:ext cx="10868745" cy="593824"/>
          </a:xfrm>
          <a:prstGeom prst="roundRect">
            <a:avLst>
              <a:gd name="adj" fmla="val 23500"/>
            </a:avLst>
          </a:prstGeom>
          <a:solidFill>
            <a:srgbClr val="CCFFEF"/>
          </a:solidFill>
          <a:ln/>
        </p:spPr>
      </p:sp>
      <p:pic>
        <p:nvPicPr>
          <p:cNvPr id="19" name="Image 5" descr="preencoded.png">    </p:cNvPr>
          <p:cNvPicPr>
            <a:picLocks noChangeAspect="1"/>
          </p:cNvPicPr>
          <p:nvPr/>
        </p:nvPicPr>
        <p:blipFill>
          <a:blip r:embed="rId6"/>
          <a:stretch>
            <a:fillRect/>
          </a:stretch>
        </p:blipFill>
        <p:spPr>
          <a:xfrm>
            <a:off x="816451" y="5967413"/>
            <a:ext cx="193769" cy="154980"/>
          </a:xfrm>
          <a:prstGeom prst="rect">
            <a:avLst/>
          </a:prstGeom>
        </p:spPr>
      </p:pic>
      <p:sp>
        <p:nvSpPr>
          <p:cNvPr id="20" name="Text 12"/>
          <p:cNvSpPr/>
          <p:nvPr/>
        </p:nvSpPr>
        <p:spPr>
          <a:xfrm>
            <a:off x="1165196" y="5944295"/>
            <a:ext cx="10819633" cy="240308"/>
          </a:xfrm>
          <a:prstGeom prst="rect">
            <a:avLst/>
          </a:prstGeom>
          <a:noFill/>
          <a:ln/>
        </p:spPr>
        <p:txBody>
          <a:bodyPr wrap="none" lIns="0" tIns="0" rIns="0" bIns="0" rtlCol="0" anchor="t"/>
          <a:lstStyle/>
          <a:p>
            <a:pPr algn="l" indent="0" marL="0">
              <a:lnSpc>
                <a:spcPct val="129000"/>
              </a:lnSpc>
              <a:buNone/>
            </a:pPr>
            <a:r>
              <a:rPr lang="en-US" sz="1200" dirty="0">
                <a:solidFill>
                  <a:srgbClr val="000000"/>
                </a:solidFill>
                <a:latin typeface="Geist" pitchFamily="34" charset="0"/>
                <a:ea typeface="Geist" pitchFamily="34" charset="-122"/>
                <a:cs typeface="Geist" pitchFamily="34" charset="-120"/>
              </a:rPr>
              <a:t>Next steps: prioritize dashboard KPIs, run A/B tests on subscription offers, and re-evaluate discount depth for the five risk products.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2026-09-16T15:01:03Z</dcterms:created>
  <dcterms:modified xsi:type="dcterms:W3CDTF">2026-09-16T15:01:03Z</dcterms:modified>
</cp:coreProperties>
</file>